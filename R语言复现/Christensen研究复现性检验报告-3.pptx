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1"/>
    <p:restoredTop sz="94684"/>
  </p:normalViewPr>
  <p:slideViewPr>
    <p:cSldViewPr snapToGrid="0">
      <p:cViewPr varScale="1">
        <p:scale>
          <a:sx n="114" d="100"/>
          <a:sy n="114" d="100"/>
        </p:scale>
        <p:origin x="36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欢迎参加本次关于Christensen等人2018年研究的复现性检验报告。本次报告将深入探讨开放性人格与语义记忆网络结构之间的关系，并详细展示我们对原研究进行复现的全过程、发现的差异以及最终的结论。希望通过这次分享，能为大家提供一个关于计算可复现性研究的具体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报告将分为四个部分。首先，我们会回顾原研究的背景和核心发现。接着，将详细介绍我们的复现方法，并重点剖析与原研究在代码实现上的核心差异。第三部分，我们会展示复现的结果，并与原研究的数据进行对比分析。最后，在结论与讨论部分，我们将总结本次复现研究的发现，并探讨其学术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正式开始之前，让我们先了解一下本次复现研究的对象。我们选择的是Christensen等人于2018年发表在《欧洲人格杂志》上的一篇论文。该研究探讨了开放性人格特质与语义记忆网络结构之间的关系。我们将严格遵循原研究的设计，使用其公开的原始数据，对516名参与者进行分析，以检验其核心假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原研究的核心发现是，高开放性人格的个体，他们的语义网络结构呈现出一种“小世界”特性。这意味着他们的大脑在处理信息时，既有像“大世界”一样高效的全局信息传递能力，又有像“小世界”一样紧密的局部连接。具体来说，就是平均路径更短、聚类系数更高、模块化程度更低。这一发现为理解创造力的来源提供了新的视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接下来，我们将进入报告的第二部分。在这一部分，我将详细介绍我们的复现方法，并重点剖析在数据处理和代码实现过程中，我们与原研究发现的核心差异。这些差异对于理解后续结果的偏差至关重要。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研究的分析流程主要分为三步：首先是使用专门的工具包进行数据预处理；然后是基于余弦相似度构建网络，并使用TMFG算法提取核心结构；最后是计算三个关键的网络指标。为了方便理解，我们在这里补充了这三个指标的定义：ASPL代表信息传递效率，CC代表局部连接的紧密程度，而Q则代表网络结构的灵活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发现的第一个差异点在于数据清洗流程。原研究使用了一个自动化工具包，可以自动合并同义词，比如把"cat"和"cats"视为同一个词。而我们在复现时，为了保证过程的透明和可控，采用了手工清洗，但没有实现自动同义词合并。这一差异可能导致我们的网络节点数量比原研究多，从而影响了后续的网络结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个差异点是关于缺失数据的处理。原作者非常仔细，他们发现有两位被试的数据虽然在电子文件中显示为缺失，但在原始纸质记录中是有作答的，于是他们手工补全了这些数据。而我们的复现流程是直接删除了所有无效的样本。这导致我们的有效样本量可能略少于原研究，这也是一个潜在的影响因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个差异点在于节点筛选标准。原研究保留了所有在任一小组中出现过至少一次的词。而我们采用了更严格的标准，要求一个词必须在两个小组中都出现至少两次才被保留。这个更严格的标准导致我们最终的网络节点数量更少，这无疑会改变整个网络的拓扑结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个差异点，也是我们认为最关键的差异，在于网络指标的计算参数。原研究在计算指标时，使用了一个参数来对结果进行标准化。而我们的复现没有使用这个参数，直接输出了原始值。这很可能是导致我们计算出的聚类系数CC与原文数值差异巨大的主要原因。同时，软件包版本的更新也可能改变了底层算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一个差异点是关于余弦相似度计算的一个技术细节。为了避免数学上的除零错误，原研究和我们都在相似度矩阵上加了一个很小的常数。虽然实现方式略有不同，但理论上这一步对最终结果的影响应该是一致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在详细分析了方法上的差异之后，现在让我们进入第三部分，看看复现的结果究竟如何。我们将把我们的结果与原研究的数据进行对比，分析其中的异同。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最核心的发现。请看页面内容，虽然具体数值上存在不小的偏差，特别是CC和Q值，但最关键的是，我们复现了原研究的核心推论：高开放性组的ASPL和Q值确实更低，而CC值确实更高。这说明，尽管存在方法上的差异，但原研究揭示的核心规律是稳健和可复现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更直观地评估复现性，我们制作了这两个表格。上表显示，在6个具体指标数值中，有5个都出现了较大的偏差。但看下表，在三个核心推论上，我们的结果与原研究完全一致。这再次印证了我们的结论：原研究的核心发现是可靠的，尽管具体数值受到方法和软件版本的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现在我们进入最后一部分，结论与讨论。首先，我们的复现是成功的，原研究的核心结论得到了验证。其次，我们发现的数值差异，主要源于软件包版本的更新和一些实现细节的不同，这并非研究本身的问题。最后，我们的工作为这项重要研究提供了一次独立的可复现性验证，增强了其结论的可信度和推广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我们对导致数值差异的原因进行了总结。主要可以归结为几个方面：最主要的是软件包版本的更新，这是计算科学研究中普遍存在的挑战。其次，原研究的部分处理步骤不够透明，增加了完美复现的难度。此外，我们在数据处理细节上的差异也起到了一定作用。这个案例提醒我们，在计算科学研究中，详细报告方法细节和软件版本至关重要。我的报告到此结束，感谢大家的聆听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048000"/>
            <a:ext cx="1066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Christensen研究复现性检验报告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4191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开放性人格与语义网络结构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：林敏诗 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175000"/>
            <a:ext cx="279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318000"/>
            <a:ext cx="279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572000" y="1905000"/>
            <a:ext cx="685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研究背景与核心发现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回顾原研究的学术背景，梳理其提出的核心假设与关键结论，为复现工作确立参照基准。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4572000" y="3175000"/>
            <a:ext cx="685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复现方法与核心差异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详细拆解数据预处理流程、网络模型构建逻辑，深度剖析代码实现细节中与原研究存在的核心差异点。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572000" y="4445000"/>
            <a:ext cx="685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复现结果与对比分析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对比复现实验的行为数据表现与网络关键指标，分析结果的一致性与偏差，探究差异产生的根源。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2000" y="5588000"/>
            <a:ext cx="685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结论与讨论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总结本次复现研究的关键发现，探讨研究结果的可靠性与局限性，提出对后续相关研究的启示与建议。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635000"/>
            <a:ext cx="1117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研究背景与核心发现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588000" cy="457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文献基础与研究对象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选用 Christensen 等人 (2018) 发表于《European Journal of Personality》的经典研究，该研究首次系统探讨开放性人格特质与语义记忆网络结构的关联，为认知人格学提供了网络科学视角的实证依据。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____________________________________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数据来源与样本设计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原始数据公开于 OSF 平台 (https://osf.io/craky/)，本复现沿用原研究的 516 名参与者样本，严格按开放性得分中位数将其划分为高、低开放性两组，每组各 258 人，保证组间基线的均衡性。</a:t>
            </a:r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____________________________________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核心复现假设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检验高、低开放性群体在语义网络关键拓扑指标上的差异：重点关注平均最短路径长度 (ASPL)、聚类系数 (CC) 及模块度 (Q)，验证高开放性人格者的语义网络是否具备更高效、灵活的连接特征。</a:t>
            </a:r>
          </a:p>
        </p:txBody>
      </p:sp>
      <p:cxnSp>
        <p:nvCxnSpPr>
          <p:cNvPr id="4" name="Connector 4"/>
          <p:cNvCxnSpPr/>
          <p:nvPr/>
        </p:nvCxnSpPr>
        <p:spPr>
          <a:xfrm rot="-42969">
            <a:off x="8890040" y="316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2926636">
            <a:off x="9701581" y="3613176"/>
            <a:ext cx="11708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4687695">
            <a:off x="8369431" y="3803681"/>
            <a:ext cx="129515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1193128">
            <a:off x="9109491" y="4629163"/>
            <a:ext cx="10850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3426265">
            <a:off x="9956119" y="4438613"/>
            <a:ext cx="91581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788400" y="3073400"/>
            <a:ext cx="203200" cy="203200"/>
          </a:xfrm>
          <a:prstGeom prst="ellipse">
            <a:avLst/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829800" y="3098800"/>
            <a:ext cx="152400" cy="152400"/>
          </a:xfrm>
          <a:prstGeom prst="ellipse">
            <a:avLst/>
          </a:prstGeom>
          <a:solidFill>
            <a:srgbClr val="6666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579100" y="3975100"/>
            <a:ext cx="177800" cy="177800"/>
          </a:xfrm>
          <a:prstGeom prst="ellipse">
            <a:avLst/>
          </a:prstGeom>
          <a:solidFill>
            <a:srgbClr val="5050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080500" y="4381500"/>
            <a:ext cx="127000" cy="127000"/>
          </a:xfrm>
          <a:prstGeom prst="ellipse">
            <a:avLst/>
          </a:prstGeom>
          <a:solidFill>
            <a:srgbClr val="7878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045700" y="4711700"/>
            <a:ext cx="228600" cy="228600"/>
          </a:xfrm>
          <a:prstGeom prst="ellipse">
            <a:avLst/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0" y="54610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语义网络拓扑结构分析示意图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635000"/>
            <a:ext cx="1117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研究背景与核心发现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588000" cy="457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hristensen等人(2018)首次将网络科学引入人格与语义记忆领域，招募516名成人参与者完成动物类别语义流畅性任务，以此构建个体语义网络并系统分析其拓扑属性，为探索人格特质与认知结构的关联提供了全新范式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▍核心发现：高开放性人格的“小世界”语义网络特性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该研究证实高开放性个体的语义网络呈现典型的“小世界”结构，兼具高效传递与紧密连接的优势：更短的平均最短路径长度(ASPL)实现了信息的快速全局传递；更高的聚类系数(CC)保证了局部知识节点间的紧密关联；而更低的模块度(Q)则让网络整体结构更具灵活性，打破了知识模块间的壁垒。</a:t>
            </a:r>
          </a:p>
          <a:p>
            <a:pPr marL="0"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▍理论意义：揭示创造力的认知网络机制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这一发现从认知网络拓扑结构的视角，深刻解释了开放性人格特质促进创造性思维产生的内在逻辑——灵活、高效且紧密的语义连接，为新颖概念的组合与远程联想提供了神经认知基础。</a:t>
            </a:r>
          </a:p>
        </p:txBody>
      </p:sp>
      <p:cxnSp>
        <p:nvCxnSpPr>
          <p:cNvPr id="4" name="Connector 4"/>
          <p:cNvCxnSpPr/>
          <p:nvPr/>
        </p:nvCxnSpPr>
        <p:spPr>
          <a:xfrm rot="-42969">
            <a:off x="8890040" y="316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2926636">
            <a:off x="9701581" y="3613176"/>
            <a:ext cx="11708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4687695">
            <a:off x="8369431" y="3803681"/>
            <a:ext cx="129515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1193128">
            <a:off x="9109491" y="4629163"/>
            <a:ext cx="10850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3426265">
            <a:off x="9956119" y="4438613"/>
            <a:ext cx="91581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788400" y="3073400"/>
            <a:ext cx="203200" cy="203200"/>
          </a:xfrm>
          <a:prstGeom prst="ellipse">
            <a:avLst/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829800" y="3098800"/>
            <a:ext cx="152400" cy="152400"/>
          </a:xfrm>
          <a:prstGeom prst="ellipse">
            <a:avLst/>
          </a:prstGeom>
          <a:solidFill>
            <a:srgbClr val="6666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579100" y="3975100"/>
            <a:ext cx="177800" cy="177800"/>
          </a:xfrm>
          <a:prstGeom prst="ellipse">
            <a:avLst/>
          </a:prstGeom>
          <a:solidFill>
            <a:srgbClr val="5050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080500" y="4381500"/>
            <a:ext cx="127000" cy="127000"/>
          </a:xfrm>
          <a:prstGeom prst="ellipse">
            <a:avLst/>
          </a:prstGeom>
          <a:solidFill>
            <a:srgbClr val="7878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045700" y="4711700"/>
            <a:ext cx="228600" cy="228600"/>
          </a:xfrm>
          <a:prstGeom prst="ellipse">
            <a:avLst/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0" y="54610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语义网络“小世界”拓扑结构示意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048000"/>
            <a:ext cx="1016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4450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复现方法与核心差异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635000"/>
            <a:ext cx="1117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4448C"/>
                </a:solidFill>
                <a:latin typeface="Noto Sans SC"/>
                <a:ea typeface="Noto Sans SC"/>
                <a:cs typeface="Noto Sans SC"/>
                <a:sym typeface="Noto Sans SC"/>
              </a:rPr>
              <a:t>原研究网络分析方法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11176000" cy="12700"/>
          </a:xfrm>
          <a:prstGeom prst="roundRect">
            <a:avLst>
              <a:gd name="adj" fmla="val 0"/>
            </a:avLst>
          </a:prstGeom>
          <a:solidFill>
            <a:srgbClr val="4A90E2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2032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2159000"/>
            <a:ext cx="330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800" b="1" i="0" u="none" strike="noStrike" dirty="0">
                <a:solidFill>
                  <a:srgbClr val="14448C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14448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</a:t>
            </a:r>
            <a:endParaRPr lang="en-US" sz="1100" dirty="0"/>
          </a:p>
          <a:p>
            <a:pPr marL="0" indent="0" algn="ctr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利用SemNetCleaner工具包实现文本自动清洗、拼写错误纠正，并对同义词汇进行合并与规范化，确保节点数据的一致性与准确性。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318000" y="2032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45000" y="2159000"/>
            <a:ext cx="330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800" b="1" i="0" u="none" strike="noStrike" dirty="0">
                <a:solidFill>
                  <a:srgbClr val="14448C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14448C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网络构建与过滤</a:t>
            </a:r>
            <a:endParaRPr lang="en-US" sz="1100" dirty="0"/>
          </a:p>
          <a:p>
            <a:pPr marL="0" indent="0" algn="ctr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基于余弦相似度算法计算词汇间关联强度，采用TMFG（三角最大化过滤图）算法提取网络主干结构，剔除冗余连接，保留核心关联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128000" y="2032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255000" y="2159000"/>
            <a:ext cx="330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800" b="1" i="0" u="none" strike="noStrike" dirty="0">
                <a:solidFill>
                  <a:srgbClr val="14448C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800" b="1" i="0" u="none" strike="noStrike" dirty="0" err="1">
                <a:solidFill>
                  <a:srgbClr val="14448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关键指标量化计算</a:t>
            </a:r>
            <a:endParaRPr lang="en-US" sz="1100" dirty="0"/>
          </a:p>
          <a:p>
            <a:pPr marL="0" indent="0" algn="ctr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调用semnetmeas函数，设置swm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="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rand"进行标准化处理，精准计算全局效率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(ASPL)、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局部聚类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(CC)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及模块化程度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(Q)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三大核心网络指标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4445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" y="4572000"/>
            <a:ext cx="330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核心指标：ASPL (平均最短路径长度)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衡量网络中任意两节点间最短路径的均值。数值越小，代表网络整体互联性越强，信息在节点间的传递效率越高，网络通达性越好。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254500" y="4572000"/>
            <a:ext cx="12700" cy="1651000"/>
          </a:xfrm>
          <a:prstGeom prst="roundRect">
            <a:avLst>
              <a:gd name="adj" fmla="val 0"/>
            </a:avLst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18000" y="4445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45000" y="4572000"/>
            <a:ext cx="330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核心指标：CC (聚类系数)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衡量节点邻居间互为邻居的紧密程度。数值越高，表明网络局部结构越凝聚，节点间形成紧密的小团体，反映了网络的局部聚合特性。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64500" y="4572000"/>
            <a:ext cx="12700" cy="1651000"/>
          </a:xfrm>
          <a:prstGeom prst="roundRect">
            <a:avLst>
              <a:gd name="adj" fmla="val 0"/>
            </a:avLst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0" y="4445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55000" y="4572000"/>
            <a:ext cx="330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核心指标：Q (模块化程度)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衡量网络划分为独立紧密子社区的程度。数值越小，说明网络内部边界越模糊，结构越灵活，节点跨模块连接的可能性越大。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2.1 </a:t>
            </a:r>
            <a:r>
              <a:rPr lang="en-US" sz="2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数据清洗流程差异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原研究的自动化清洗方案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5080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原作者使用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SemNetCleaner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包的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semnetcleaner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+ 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autoDeStr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+ 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autoConverge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进行自动化清洗（包括停用词去除、拼写纠正、连写拆分、同义词合并）。</a:t>
            </a:r>
            <a:endParaRPr lang="zh-CN" altLang="zh-CN" sz="1800" kern="10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45720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复现研究的手工可控策略与影响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5374341"/>
            <a:ext cx="508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复现研究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手工实现了小写化、有限拼写映射（仅示例性规则）和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catefrog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这类显式合并词的拆分，</a:t>
            </a:r>
            <a:r>
              <a:rPr lang="zh-CN" altLang="zh-CN" sz="1800" b="1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未进行自动同义词合并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（如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cat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与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cats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会作为不同节点保留，但原作者通过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autoConverge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会合并）。</a:t>
            </a:r>
            <a:endParaRPr lang="zh-CN" altLang="zh-CN" sz="1800" kern="10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2032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4318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AD4C9A1-5DB3-56B7-176B-30F352A3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681" y="4205941"/>
            <a:ext cx="5010638" cy="2336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AC24BE2-D8B5-76C5-218D-7B3C201F8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244" y="1569570"/>
            <a:ext cx="5006075" cy="2448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08000"/>
            <a:ext cx="109728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2.2 </a:t>
            </a:r>
            <a:r>
              <a:rPr lang="en-US" sz="2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缺失案例处理差异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609600" y="2398433"/>
            <a:ext cx="4997824" cy="343198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缺失数据的补全与剔除策略</a:t>
            </a:r>
            <a:endParaRPr lang="en-US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原作者主动检查并手工补全了两位被试的缺失数据（他们实际上在原始纸质记录中写了动物词，但因格式原因未被自动识别）。</a:t>
            </a:r>
            <a:r>
              <a:rPr lang="zh-CN" altLang="en-US" sz="1800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复现研究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直接删除了这些全零行，导致最终纳入分析的样本量可能略少于原作者（虽然原数据中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ID 386 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和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499 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是否被删除需核实）。这会影响描述性统计和网络构建的参与者基数。</a:t>
            </a:r>
            <a:r>
              <a:rPr lang="zh-CN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15E7B0-084E-DF08-8ECA-48C2833C5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1433029"/>
            <a:ext cx="6500906" cy="17963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9EDF35-0789-836D-648B-3430728C2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642" y="4114427"/>
            <a:ext cx="5422900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2.3 </a:t>
            </a:r>
            <a:r>
              <a:rPr lang="en-US" sz="2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节点（动物词）筛选标准差异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原研究的筛选逻辑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5080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4212871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复现研究标准与影响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5080000"/>
            <a:ext cx="508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0DB7946-782D-3443-C390-A674B77B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974850"/>
            <a:ext cx="5676900" cy="16383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5C0C1B3-5482-B848-A7C8-E8BE934E6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4318000"/>
            <a:ext cx="6375400" cy="1549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F01869B-A42D-8ACF-3AED-6F3ABB5BBB68}"/>
              </a:ext>
            </a:extLst>
          </p:cNvPr>
          <p:cNvSpPr txBox="1"/>
          <p:nvPr/>
        </p:nvSpPr>
        <p:spPr>
          <a:xfrm>
            <a:off x="632011" y="2921000"/>
            <a:ext cx="508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原作者标准：每组内出现次数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≥1 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的词予以保留，然后取两组交集。</a:t>
            </a:r>
            <a:endParaRPr lang="zh-CN" altLang="zh-CN" sz="1800" kern="10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195498-35B7-8669-088E-EB6A6650C1CD}"/>
              </a:ext>
            </a:extLst>
          </p:cNvPr>
          <p:cNvSpPr txBox="1"/>
          <p:nvPr/>
        </p:nvSpPr>
        <p:spPr>
          <a:xfrm>
            <a:off x="632011" y="4843293"/>
            <a:ext cx="5676900" cy="2105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zh-CN" altLang="en-US" sz="1800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复现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标准：每组内出现次数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1800" b="1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≥2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的词才保留（更严格），且必须同时在两组中满足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≥2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。</a:t>
            </a:r>
            <a:endParaRPr lang="zh-CN" altLang="zh-CN" sz="1800" kern="10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影响：</a:t>
            </a:r>
            <a:r>
              <a:rPr lang="zh-CN" altLang="en-US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复现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的节点数会更少，且可能丢失在某一组中出现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1 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次但在另一组中出现多次的节点，从而改变网络拓扑。</a:t>
            </a:r>
            <a:endParaRPr lang="zh-CN" altLang="zh-CN" sz="1800" kern="10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08000"/>
            <a:ext cx="109728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2.4 </a:t>
            </a:r>
            <a:r>
              <a:rPr lang="en-US" sz="2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网络指标计算参数差异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609600" y="1651000"/>
            <a:ext cx="5588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差异核心：标准化参数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swm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的使用与否</a:t>
            </a:r>
            <a:endParaRPr lang="en-US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原作者使用了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swm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 = “rand”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，表示计算相对于随机网络标准化的指标（如小世界属性）。这会影响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ASPL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、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CC 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的数值范围（例如原表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2 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中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CC ≈ 1.03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，远高于无权网络的一般聚类系数）。</a:t>
            </a:r>
            <a:r>
              <a:rPr lang="zh-CN" altLang="en-US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而</a:t>
            </a:r>
            <a:r>
              <a:rPr lang="zh-CN" altLang="en-US" sz="1800" dirty="0">
                <a:solidFill>
                  <a:srgbClr val="0F111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复现研究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没有使用该参数，</a:t>
            </a:r>
            <a:r>
              <a:rPr lang="en-US" altLang="zh-CN" sz="1800" kern="0" dirty="0" err="1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semnetmeas</a:t>
            </a:r>
            <a:r>
              <a:rPr lang="en-US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zh-CN" sz="1800" kern="0" dirty="0">
                <a:solidFill>
                  <a:srgbClr val="0F11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egoe UI" panose="020B0502040204020203" pitchFamily="34" charset="0"/>
              </a:rPr>
              <a:t>默认输出原始网络指标（无标准化）。</a:t>
            </a:r>
            <a:r>
              <a:rPr lang="zh-CN" altLang="zh-CN" sz="2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zh-CN" altLang="zh-CN" sz="1800" kern="100" dirty="0">
              <a:solidFill>
                <a:srgbClr val="0F111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09600" y="4246563"/>
            <a:ext cx="5588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数值偏差影响与潜在因素分析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核心影响结果：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这是导致聚类系数（CC）数值差异悬殊的最可能原因，原研究CC约1.03，而本研究CC约0.75，标准化处理是关键变量。</a:t>
            </a: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次要潜在因素：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不同版本的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NetworkToolbox包中，semnetmeas`函数底层计算CC的算法逻辑可能存在迭代更新，进一步加剧了结果的不一致性</a:t>
            </a:r>
            <a:r>
              <a:rPr lang="en-US" sz="14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7D2C73-DFB4-BEEC-B032-B132E0B85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752600"/>
            <a:ext cx="4343400" cy="965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8A5CAEA-A0D5-70E9-A0D0-D657DF816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4450603"/>
            <a:ext cx="41656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2.5 </a:t>
            </a:r>
            <a:r>
              <a:rPr lang="en-US" sz="2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余弦相似度添加常数差异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1999" y="216535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常数添加的代码实现路径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1999" y="3568701"/>
            <a:ext cx="5080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核心目的：在计算余弦相似度矩阵时引入极小常数，规避数学上的除零错误风险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原研究方案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：直接调用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NetworkToolbox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::cosine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函数，利用内置的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addConstant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参数自动完成常数添加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复现执行方案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：先手工实现余弦相似度核心算法，在调用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TMFG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网络构建算法之前，手动为相似度矩阵加</a:t>
            </a:r>
            <a:r>
              <a:rPr lang="en-US" sz="1800" b="0" i="0" u="none" strike="noStrik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0.01。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9A7FF8D-7810-6E0F-999A-66641C457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2" y="1765300"/>
            <a:ext cx="4508500" cy="10414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5BA530F-44AC-F40B-2846-8FF43902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2" y="3009901"/>
            <a:ext cx="5029200" cy="2082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5E68D29-B37D-7309-70A3-B270B2F90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2" y="5295902"/>
            <a:ext cx="43561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0"/>
            <a:ext cx="11176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4953000"/>
            <a:ext cx="1117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复现结果与对比分析</a:t>
            </a:r>
            <a:endParaRPr lang="en-US" sz="11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1176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复现结果与对比分析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4381500"/>
            <a:ext cx="5080000" cy="133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6FFEA3D-A51B-7682-EB31-981FA6614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1338488"/>
            <a:ext cx="7772400" cy="5011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复现结果与对比分析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335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指标数值的可复现性评估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6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445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核心推论的一致性验证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10160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推论吻合度：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针对ASPL、CC、Q三个指标的组间比较核心推论，复现结果与原研究实现了100%的完全一致（N=3），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无任何相悖结论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结论总结：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尽管具体数值存在偏差，但原研究的核心科学发现具备高度的稳健性与可靠性，不受具体计算细节波动的影响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8E7811E-1056-611D-99B7-344281216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735" y="1704042"/>
            <a:ext cx="6850530" cy="26934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540000"/>
            <a:ext cx="1219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810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讨论</a:t>
            </a:r>
            <a:endParaRPr lang="en-US" sz="11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179918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讨论</a:t>
            </a:r>
            <a:endParaRPr 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C1CDC2-B437-B93E-FA2E-E19F018671BB}"/>
              </a:ext>
            </a:extLst>
          </p:cNvPr>
          <p:cNvSpPr txBox="1"/>
          <p:nvPr/>
        </p:nvSpPr>
        <p:spPr>
          <a:xfrm>
            <a:off x="1828801" y="3429000"/>
            <a:ext cx="883471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软件包或软件版本的问题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：这是最可能的原因。原作者使用的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800" kern="0" dirty="0" err="1"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NetworkToolbox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版本（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2018 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年）与当前版本（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1.4.0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）在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800" kern="0" dirty="0"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TMFG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算法实现和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800" kern="0" dirty="0" err="1"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semnetmeas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函数计算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CC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Q 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的底层公式上存在差异。</a:t>
            </a:r>
            <a:r>
              <a:rPr lang="zh-C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原脚本使用的包在我的电脑上经常报错，所以不得不重新编写代码。</a:t>
            </a:r>
            <a:endParaRPr lang="en-US" altLang="zh-CN" dirty="0">
              <a:effectLst/>
            </a:endParaRPr>
          </a:p>
          <a:p>
            <a:endParaRPr lang="en-US" altLang="zh-CN" sz="1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数据处理细节差异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：我手工清洗时未进行自动同义词合并（如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800" kern="0" dirty="0"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cat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 vs </a:t>
            </a:r>
            <a:r>
              <a:rPr lang="en-US" altLang="zh-CN" sz="1800" kern="0" dirty="0">
                <a:effectLst/>
                <a:latin typeface="var(--ds-font-family-code)"/>
                <a:ea typeface="宋体" panose="02010600030101010101" pitchFamily="2" charset="-122"/>
                <a:cs typeface="宋体" panose="02010600030101010101" pitchFamily="2" charset="-122"/>
              </a:rPr>
              <a:t>cats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），节点集与原作者可能不一致；节点筛选阈值（每组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≥2 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次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vs 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原作者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≥1 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次后取交集）也不同，这些都会影响余弦相似度矩阵和网络结构。</a:t>
            </a:r>
            <a:endParaRPr lang="en-US" altLang="zh-CN" sz="1800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800" dirty="0">
              <a:ea typeface="宋体" panose="02010600030101010101" pitchFamily="2" charset="-122"/>
            </a:endParaRPr>
          </a:p>
          <a:p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1278</Words>
  <Application>Microsoft Macintosh PowerPoint</Application>
  <PresentationFormat>宽屏</PresentationFormat>
  <Paragraphs>134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宋体</vt:lpstr>
      <vt:lpstr>Microsoft YaHei</vt:lpstr>
      <vt:lpstr>Noto Sans SC</vt:lpstr>
      <vt:lpstr>Songti SC</vt:lpstr>
      <vt:lpstr>var(--ds-font-family-code)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Mins Lin</cp:lastModifiedBy>
  <cp:revision>3</cp:revision>
  <dcterms:modified xsi:type="dcterms:W3CDTF">2026-06-24T11:14:41Z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{"Label":"1","ContentProducer":"001191110102MACQD9K64010000","ProduceID":"7651257362766056659","ReservedCode1":"","ContentPropagator":"","PropagateID":"","ReservedCode2":""}</vt:lpwstr>
  </property>
</Properties>
</file>